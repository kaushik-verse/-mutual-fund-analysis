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C2340"/>
                </a:solidFill>
              </a:defRPr>
            </a:pPr>
            <a:r>
              <a:t>Bluestock Mutual Fund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Capstone Project - Final Presentation</a:t>
            </a:r>
          </a:p>
          <a:p>
            <a:r>
              <a:t>End-to-End Data Engineering &amp; Quantitative Analytics</a:t>
            </a:r>
          </a:p>
          <a:p/>
          <a:p>
            <a:r>
              <a:t>Author: Kaushik  |  July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Problem Statement &amp;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The Problem</a:t>
            </a:r>
          </a:p>
          <a:p>
            <a:pPr lvl="1">
              <a:defRPr sz="1500"/>
            </a:pPr>
            <a:r>
              <a:t>Indian MF industry manages INR 81 Lakh Crore across 1,900+ schemes and 26 Cr folios.</a:t>
            </a:r>
          </a:p>
          <a:p>
            <a:pPr lvl="1">
              <a:defRPr sz="1500"/>
            </a:pPr>
            <a:r>
              <a:t>Data is siloed across AMFI PDFs, AMC factsheets, and brokerage platforms.</a:t>
            </a:r>
          </a:p>
          <a:p>
            <a:pPr lvl="1">
              <a:defRPr sz="1500"/>
            </a:pPr>
            <a:r>
              <a:t>No unified platform exists for cross-fund, risk-adjusted performance comparison.</a:t>
            </a:r>
          </a:p>
          <a:p>
            <a:pPr>
              <a:defRPr sz="2000" b="1"/>
            </a:pPr>
            <a:r>
              <a:t>Our Objectives</a:t>
            </a:r>
          </a:p>
          <a:p>
            <a:pPr lvl="1">
              <a:defRPr sz="1500"/>
            </a:pPr>
            <a:r>
              <a:t>Build an automated ETL pipeline ingesting 10 datasets into a Star Schema.</a:t>
            </a:r>
          </a:p>
          <a:p>
            <a:pPr lvl="1">
              <a:defRPr sz="1500"/>
            </a:pPr>
            <a:r>
              <a:t>Compute 6 quantitative metrics (CAGR, Sharpe, Sortino, Alpha, Beta, MaxDD) for 40 schemes.</a:t>
            </a:r>
          </a:p>
          <a:p>
            <a:pPr lvl="1">
              <a:defRPr sz="1500"/>
            </a:pPr>
            <a:r>
              <a:t>Deploy an interactive dashboard and automated reporting engine.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Data Sources (10 Datasets)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580,000+ records spanning Jan 2022 - May 2026</a:t>
            </a:r>
          </a:p>
          <a:p>
            <a:pPr lvl="1">
              <a:defRPr sz="1400"/>
            </a:pPr>
            <a:r>
              <a:t>01_fund_master.csv - 40 schemes with metadata, expense ratios, risk grades</a:t>
            </a:r>
          </a:p>
          <a:p>
            <a:pPr lvl="1">
              <a:defRPr sz="1400"/>
            </a:pPr>
            <a:r>
              <a:t>02_nav_history.csv - ~540K daily NAV values for all 40 schemes</a:t>
            </a:r>
          </a:p>
          <a:p>
            <a:pPr lvl="1">
              <a:defRPr sz="1400"/>
            </a:pPr>
            <a:r>
              <a:t>03_aum_by_fund_house.csv - Quarterly AUM for top 10 AMCs</a:t>
            </a:r>
          </a:p>
          <a:p>
            <a:pPr lvl="1">
              <a:defRPr sz="1400"/>
            </a:pPr>
            <a:r>
              <a:t>07_scheme_performance.csv - Trailing returns, Alpha, Beta, Sharpe ratios</a:t>
            </a:r>
          </a:p>
          <a:p>
            <a:pPr lvl="1">
              <a:defRPr sz="1400"/>
            </a:pPr>
            <a:r>
              <a:t>08_investor_transactions.csv - 32K+ transactions with demographics</a:t>
            </a:r>
          </a:p>
          <a:p>
            <a:pPr lvl="1">
              <a:defRPr sz="1400"/>
            </a:pPr>
            <a:r>
              <a:t>09_portfolio_holdings.csv - Sector allocations and stock weights</a:t>
            </a:r>
          </a:p>
          <a:p>
            <a:pPr lvl="1">
              <a:defRPr sz="1400"/>
            </a:pPr>
            <a:r>
              <a:t>10_benchmark_indices.csv - Nifty 50, Nifty 100, Nifty Midcap daily closes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ETL Pipeline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Extract</a:t>
            </a:r>
          </a:p>
          <a:p>
            <a:pPr lvl="1">
              <a:defRPr sz="1500"/>
            </a:pPr>
            <a:r>
              <a:t>etl_pipeline.py: Automated ingestion of 10 CSVs into data/raw/ staging area.</a:t>
            </a:r>
          </a:p>
          <a:p>
            <a:pPr>
              <a:defRPr sz="2000" b="1"/>
            </a:pPr>
            <a:r>
              <a:t>Transform</a:t>
            </a:r>
          </a:p>
          <a:p>
            <a:pPr lvl="1">
              <a:defRPr sz="1500"/>
            </a:pPr>
            <a:r>
              <a:t>clean_data.py: Forward-fill (ffill) for missing NAV dates, deduplication, amount validation.</a:t>
            </a:r>
          </a:p>
          <a:p>
            <a:pPr lvl="1">
              <a:defRPr sz="1500"/>
            </a:pPr>
            <a:r>
              <a:t>Expense ratios filtered to SEBI-compliant 0.1-2.5% range.</a:t>
            </a:r>
          </a:p>
          <a:p>
            <a:pPr>
              <a:defRPr sz="2000" b="1"/>
            </a:pPr>
            <a:r>
              <a:t>Load</a:t>
            </a:r>
          </a:p>
          <a:p>
            <a:pPr lvl="1">
              <a:defRPr sz="1500"/>
            </a:pPr>
            <a:r>
              <a:t>db_load.py: SQLAlchemy maps CSVs to 5-table Star Schema (fact_nav, fact_transactions, dim_fund, etc.).</a:t>
            </a:r>
          </a:p>
          <a:p>
            <a:pPr lvl="1">
              <a:defRPr sz="1500"/>
            </a:pPr>
            <a:r>
              <a:t>dim_date generated dynamically spanning 2022-2026 with year/quarter/weekday flags.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EDA Highlights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Industry AUM Growth</a:t>
            </a:r>
          </a:p>
          <a:p>
            <a:pPr lvl="1">
              <a:defRPr sz="1500"/>
            </a:pPr>
            <a:r>
              <a:t>Industry AUM grew 113% from INR 38L Cr (Q1 2022) to INR 81L Cr (Q1 2025).</a:t>
            </a:r>
          </a:p>
          <a:p>
            <a:pPr lvl="1">
              <a:defRPr sz="1500"/>
            </a:pPr>
            <a:r>
              <a:t>SBI MF, ICICI Prudential, and HDFC AMC consistently held top 3 AUM positions.</a:t>
            </a:r>
          </a:p>
          <a:p>
            <a:pPr>
              <a:defRPr sz="2000" b="1"/>
            </a:pPr>
            <a:r>
              <a:t>SIP Inflow Trends</a:t>
            </a:r>
          </a:p>
          <a:p>
            <a:pPr lvl="1">
              <a:defRPr sz="1500"/>
            </a:pPr>
            <a:r>
              <a:t>Monthly SIP inflows surged from INR 12,000 Cr to INR 31,000 Cr over 3 years.</a:t>
            </a:r>
          </a:p>
          <a:p>
            <a:pPr lvl="1">
              <a:defRPr sz="1500"/>
            </a:pPr>
            <a:r>
              <a:t>SIP-to-AUM ratio stabilized at ~0.4%, indicating healthy organic capital formation.</a:t>
            </a:r>
          </a:p>
          <a:p>
            <a:pPr>
              <a:defRPr sz="2000" b="1"/>
            </a:pPr>
            <a:r>
              <a:t>NAV Return Distributions</a:t>
            </a:r>
          </a:p>
          <a:p>
            <a:pPr lvl="1">
              <a:defRPr sz="1500"/>
            </a:pPr>
            <a:r>
              <a:t>Daily returns follow approximately normal distributions with slight negative skew (-0.12).</a:t>
            </a:r>
          </a:p>
          <a:p>
            <a:pPr lvl="1">
              <a:defRPr sz="1500"/>
            </a:pPr>
            <a:r>
              <a:t>8 sectoral funds showed fat-tailed kurtosis &gt; 3.0, confirming elevated tail risk.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EDA Highlights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Transaction Demographics</a:t>
            </a:r>
          </a:p>
          <a:p>
            <a:pPr lvl="1">
              <a:defRPr sz="1500"/>
            </a:pPr>
            <a:r>
              <a:t>Maharashtra, Karnataka, Gujarat = 45% of total investment volumes.</a:t>
            </a:r>
          </a:p>
          <a:p>
            <a:pPr lvl="1">
              <a:defRPr sz="1500"/>
            </a:pPr>
            <a:r>
              <a:t>Age group 25-35 shows highest SIP adoption (avg INR 8,500/month).</a:t>
            </a:r>
          </a:p>
          <a:p>
            <a:pPr lvl="1">
              <a:defRPr sz="1500"/>
            </a:pPr>
            <a:r>
              <a:t>Tier-1 cities: 62% of value; Tier-2 cities: fastest growth at 28% YoY.</a:t>
            </a:r>
          </a:p>
          <a:p>
            <a:pPr>
              <a:defRPr sz="2000" b="1"/>
            </a:pPr>
            <a:r>
              <a:t>Fund Category Insights</a:t>
            </a:r>
          </a:p>
          <a:p>
            <a:pPr lvl="1">
              <a:defRPr sz="1500"/>
            </a:pPr>
            <a:r>
              <a:t>Large Cap: 34% AUM | Mid Cap: 22% | Small Cap: 18% of total AUM.</a:t>
            </a:r>
          </a:p>
          <a:p>
            <a:pPr lvl="1">
              <a:defRPr sz="1500"/>
            </a:pPr>
            <a:r>
              <a:t>Sectoral funds: highest inflow growth BUT highest redemption volatility.</a:t>
            </a:r>
          </a:p>
          <a:p>
            <a:pPr lvl="1">
              <a:defRPr sz="1500"/>
            </a:pPr>
            <a:r>
              <a:t>Net outflows observed in sectoral funds in 3 of 12 quarters.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Performance Metrics (Part 1)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CAGR (Compounded Annual Growth Rate)</a:t>
            </a:r>
          </a:p>
          <a:p>
            <a:pPr lvl="1">
              <a:defRPr sz="1500"/>
            </a:pPr>
            <a:r>
              <a:t>Formula: (NAV_end / NAV_start) ^ (252 / N_trading_days) - 1</a:t>
            </a:r>
          </a:p>
          <a:p>
            <a:pPr lvl="1">
              <a:defRPr sz="1500"/>
            </a:pPr>
            <a:r>
              <a:t>Uses 252 trading days (not 365) to prevent 30% understatement.</a:t>
            </a:r>
          </a:p>
          <a:p>
            <a:pPr>
              <a:defRPr sz="1800" b="1"/>
            </a:pPr>
            <a:r>
              <a:t>Sharpe Ratio (Risk-Adjusted Return)</a:t>
            </a:r>
          </a:p>
          <a:p>
            <a:pPr lvl="1">
              <a:defRPr sz="1500"/>
            </a:pPr>
            <a:r>
              <a:t>Formula: (Rp - Rf) / Std(Rp) x SQRT(252), Rf = 6.5% RBI repo rate proxy.</a:t>
            </a:r>
          </a:p>
          <a:p>
            <a:pPr lvl="1">
              <a:defRPr sz="1500"/>
            </a:pPr>
            <a:r>
              <a:t>Top-tier funds achieved Sharpe &gt; 1.2, indicating strong outperformance.</a:t>
            </a:r>
          </a:p>
          <a:p>
            <a:pPr>
              <a:defRPr sz="1800" b="1"/>
            </a:pPr>
            <a:r>
              <a:t>Sortino Ratio (Downside-Only Risk)</a:t>
            </a:r>
          </a:p>
          <a:p>
            <a:pPr lvl="1">
              <a:defRPr sz="1500"/>
            </a:pPr>
            <a:r>
              <a:t>Same as Sharpe but denominator uses only negative-return-day std deviation.</a:t>
            </a:r>
          </a:p>
          <a:p>
            <a:pPr lvl="1">
              <a:defRPr sz="1500"/>
            </a:pPr>
            <a:r>
              <a:t>Prevents penalization of positive volatility (upside surprise).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Performance Metrics (Part 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Alpha &amp; Beta (OLS Regression vs NIFTY 100)</a:t>
            </a:r>
          </a:p>
          <a:p>
            <a:pPr lvl="1">
              <a:defRPr sz="1500"/>
            </a:pPr>
            <a:r>
              <a:t>Beta = market volatility correlation. Beta &gt; 1.0 = amplified market risk.</a:t>
            </a:r>
          </a:p>
          <a:p>
            <a:pPr lvl="1">
              <a:defRPr sz="1500"/>
            </a:pPr>
            <a:r>
              <a:t>Alpha = annualized excess return. Positive Alpha = genuine managerial skill.</a:t>
            </a:r>
          </a:p>
          <a:p>
            <a:pPr>
              <a:defRPr sz="1800" b="1"/>
            </a:pPr>
            <a:r>
              <a:t>Maximum Drawdown</a:t>
            </a:r>
          </a:p>
          <a:p>
            <a:pPr lvl="1">
              <a:defRPr sz="1500"/>
            </a:pPr>
            <a:r>
              <a:t>Formula: min(NAV / Running_Max - 1). Measures deepest peak-to-trough decline.</a:t>
            </a:r>
          </a:p>
          <a:p>
            <a:pPr lvl="1">
              <a:defRPr sz="1500"/>
            </a:pPr>
            <a:r>
              <a:t>Sectoral funds exceeded -25% drawdown during macro corrections.</a:t>
            </a:r>
          </a:p>
          <a:p>
            <a:pPr>
              <a:defRPr sz="1800" b="1"/>
            </a:pPr>
            <a:r>
              <a:t>Composite Scorecard (0-100)</a:t>
            </a:r>
          </a:p>
          <a:p>
            <a:pPr lvl="1">
              <a:defRPr sz="1400"/>
            </a:pPr>
            <a:r>
              <a:t>Weighting: 3Yr CAGR (30%) + Sharpe (25%) + Alpha (20%) + Expense Ratio (15% inv.) + MaxDD (10% inv.)</a:t>
            </a:r>
          </a:p>
          <a:p>
            <a:pPr lvl="1">
              <a:defRPr sz="1500"/>
            </a:pPr>
            <a:r>
              <a:t>Unified percentile-based ranking enabling direct cross-fund comparison.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Interactive Dashboard (Pages 1-2)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Built with Streamlit + Plotly (Alternative to Power BI)</a:t>
            </a:r>
          </a:p>
          <a:p>
            <a:pPr>
              <a:defRPr sz="1700" b="1"/>
            </a:pPr>
            <a:r>
              <a:t>Page 1 - Industry Overview</a:t>
            </a:r>
          </a:p>
          <a:p>
            <a:pPr lvl="1">
              <a:defRPr sz="1400"/>
            </a:pPr>
            <a:r>
              <a:t>KPI cards: Total AUM (INR 81.2L Cr), SIP Inflows (INR 31K Cr), Folios (26.12 Cr), Schemes (1,908).</a:t>
            </a:r>
          </a:p>
          <a:p>
            <a:pPr lvl="1">
              <a:defRPr sz="1400"/>
            </a:pPr>
            <a:r>
              <a:t>Interactive line chart: Industry AUM trend 2022-2025.</a:t>
            </a:r>
          </a:p>
          <a:p>
            <a:pPr lvl="1">
              <a:defRPr sz="1400"/>
            </a:pPr>
            <a:r>
              <a:t>Bar chart: AUM by AMC with color-coded fund houses.</a:t>
            </a:r>
          </a:p>
          <a:p>
            <a:pPr>
              <a:defRPr sz="1700" b="1"/>
            </a:pPr>
            <a:r>
              <a:t>Page 2 - Fund Performance</a:t>
            </a:r>
          </a:p>
          <a:p>
            <a:pPr lvl="1">
              <a:defRPr sz="1400"/>
            </a:pPr>
            <a:r>
              <a:t>Scatter plot: Return (X) vs Risk/StdDev (Y), bubble size = AUM.</a:t>
            </a:r>
          </a:p>
          <a:p>
            <a:pPr lvl="1">
              <a:defRPr sz="1400"/>
            </a:pPr>
            <a:r>
              <a:t>Sortable fund scorecard table with all metrics.</a:t>
            </a:r>
          </a:p>
          <a:p>
            <a:pPr lvl="1">
              <a:defRPr sz="1400"/>
            </a:pPr>
            <a:r>
              <a:t>Normalized NAV line (base 100) vs Nifty 50 benchmark.</a:t>
            </a:r>
          </a:p>
          <a:p>
            <a:pPr lvl="1">
              <a:defRPr sz="1400"/>
            </a:pPr>
            <a:r>
              <a:t>Dynamic slicers: Fund House, Category, Plan Type.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Interactive Dashboard (Pages 3-4)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1800"/>
            </a:pPr>
            <a:r>
              <a:t>Page 3 - Investor Analytics</a:t>
            </a:r>
          </a:p>
          <a:p>
            <a:pPr lvl="1">
              <a:defRPr sz="1500"/>
            </a:pPr>
            <a:r>
              <a:t>Horizontal bar chart: Transaction amount by state.</a:t>
            </a:r>
          </a:p>
          <a:p>
            <a:pPr lvl="1">
              <a:defRPr sz="1500"/>
            </a:pPr>
            <a:r>
              <a:t>Donut chart: SIP / Lumpsum / Redemption split by amount.</a:t>
            </a:r>
          </a:p>
          <a:p>
            <a:pPr lvl="1">
              <a:defRPr sz="1500"/>
            </a:pPr>
            <a:r>
              <a:t>Bar chart: Age group vs average SIP amount.</a:t>
            </a:r>
          </a:p>
          <a:p>
            <a:pPr lvl="1">
              <a:defRPr sz="1500"/>
            </a:pPr>
            <a:r>
              <a:t>Monthly transaction volume trend line. Slicers: State, Age, City Tier.</a:t>
            </a:r>
          </a:p>
          <a:p>
            <a:pPr>
              <a:defRPr sz="1800" b="1"/>
            </a:pPr>
            <a:r>
              <a:t>Page 4 - SIP &amp; Market Trends</a:t>
            </a:r>
          </a:p>
          <a:p>
            <a:pPr lvl="1">
              <a:defRPr sz="1500"/>
            </a:pPr>
            <a:r>
              <a:t>Dual-axis chart: SIP inflow (bars) + Nifty 50 (line) over 2022-2025.</a:t>
            </a:r>
          </a:p>
          <a:p>
            <a:pPr lvl="1">
              <a:defRPr sz="1500"/>
            </a:pPr>
            <a:r>
              <a:t>Category flow heatmap: Net inflows by category across 6 months.</a:t>
            </a:r>
          </a:p>
          <a:p>
            <a:pPr lvl="1">
              <a:defRPr sz="1500"/>
            </a:pPr>
            <a:r>
              <a:t>Top 5 categories by net inflow for FY25.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>
                <a:solidFill>
                  <a:srgbClr val="0C2340"/>
                </a:solidFill>
              </a:defRPr>
            </a:pPr>
            <a:r>
              <a:t>Key Findings &amp; 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b="1" sz="2000"/>
            </a:pPr>
            <a:r>
              <a:t>Key Findings</a:t>
            </a:r>
          </a:p>
          <a:p>
            <a:pPr lvl="1">
              <a:defRPr sz="1400"/>
            </a:pPr>
            <a:r>
              <a:t>Top 5 funds maintained Sharpe &gt; 1.2 and positive Alpha - genuine outperformance.</a:t>
            </a:r>
          </a:p>
          <a:p>
            <a:pPr lvl="1">
              <a:defRPr sz="1400"/>
            </a:pPr>
            <a:r>
              <a:t>Sectoral funds carry 40-60% higher tail risk (VaR/CVaR) vs diversified funds.</a:t>
            </a:r>
          </a:p>
          <a:p>
            <a:pPr lvl="1">
              <a:defRPr sz="1400"/>
            </a:pPr>
            <a:r>
              <a:t>2022 cohort investors maintain 2x higher avg SIP amounts than 2024 entrants.</a:t>
            </a:r>
          </a:p>
          <a:p>
            <a:pPr lvl="1">
              <a:defRPr sz="1400"/>
            </a:pPr>
            <a:r>
              <a:t>12% of seasoned SIP investors flagged 'at-risk' with payment gaps &gt; 35 days.</a:t>
            </a:r>
          </a:p>
          <a:p>
            <a:pPr>
              <a:defRPr sz="2000" b="1"/>
            </a:pPr>
            <a:r>
              <a:t>Recommendations</a:t>
            </a:r>
          </a:p>
          <a:p>
            <a:pPr lvl="1">
              <a:defRPr sz="1400"/>
            </a:pPr>
            <a:r>
              <a:t>Diversification Advisory: Rebalance sectoral exposure toward multi-cap strategies.</a:t>
            </a:r>
          </a:p>
          <a:p>
            <a:pPr lvl="1">
              <a:defRPr sz="1400"/>
            </a:pPr>
            <a:r>
              <a:t>SIP Retention: Target at-risk investors with personalized campaigns before mandate lapse.</a:t>
            </a:r>
          </a:p>
          <a:p>
            <a:pPr lvl="1">
              <a:defRPr sz="1400"/>
            </a:pPr>
            <a:r>
              <a:t>Geographic Expansion: Digital-first onboarding in Tier-2/3 cities.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b="1">
                <a:solidFill>
                  <a:srgbClr val="0C2340"/>
                </a:solidFill>
              </a:defRPr>
            </a:pPr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Bluestock Mutual Fund Analytics Capstone</a:t>
            </a:r>
          </a:p>
          <a:p/>
          <a:p>
            <a:r>
              <a:t>Author: Kaushik</a:t>
            </a:r>
          </a:p>
          <a:p>
            <a:r>
              <a:t>GitHub: github.com/Kaushik-verse/-mutual-fund-analysis</a:t>
            </a:r>
          </a:p>
          <a:p/>
          <a:p>
            <a:r>
              <a:t>All 5 Bonus Challenges Completed</a:t>
            </a:r>
          </a:p>
          <a:p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