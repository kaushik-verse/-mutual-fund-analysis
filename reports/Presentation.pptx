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Bluestock 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6464"/>
                </a:solidFill>
              </a:defRPr>
            </a:pPr>
            <a:r>
              <a:t>Capstone Project Presentation</a:t>
            </a:r>
          </a:p>
          <a:p>
            <a:r>
              <a:t>End-to-End Data Engineering &amp; Advanced Quantitative Analytics</a:t>
            </a:r>
          </a:p>
          <a:p>
            <a:r>
              <a:t>Author: Kaushik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1. Project 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The Challenge: Fragmented Data in a $1 Trillion Industry</a:t>
            </a:r>
          </a:p>
          <a:p>
            <a:pPr lvl="1">
              <a:defRPr sz="1600"/>
            </a:pPr>
            <a:r>
              <a:t>The Indian MF industry manages INR 81 Lakh Crore, yet data is siloed across AMFI reports, brokerages, and static PDFs, preventing real-time, holistic risk assessment.</a:t>
            </a:r>
          </a:p>
          <a:p>
            <a:pPr>
              <a:defRPr b="1" sz="2000"/>
            </a:pPr>
            <a:r>
              <a:t>The Solution: A Centralized Analytics Engine</a:t>
            </a:r>
          </a:p>
          <a:p>
            <a:pPr lvl="1">
              <a:defRPr sz="1600"/>
            </a:pPr>
            <a:r>
              <a:t>Engineered a Python-based ETL pipeline to ingest 10 massive datasets (historical NAVs, 32k+ investor transactions, benchmark indices).</a:t>
            </a:r>
          </a:p>
          <a:p>
            <a:pPr lvl="1">
              <a:defRPr sz="1600"/>
            </a:pPr>
            <a:r>
              <a:t>Modeled into a highly optimized SQLite Star Schema to power instant, zero-latency quantitative algorithms and interactive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2. Data Engineering &amp; ETL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Robust Cleansing &amp; Normalization Protocols</a:t>
            </a:r>
          </a:p>
          <a:p>
            <a:pPr lvl="1"/>
            <a:r>
              <a:t>Implemented programmatic forward-fill (ffill) logic to reconstruct missing NAV values during market weekends and holidays.</a:t>
            </a:r>
          </a:p>
          <a:p>
            <a:pPr>
              <a:defRPr b="1"/>
            </a:pPr>
            <a:r>
              <a:t>The Star Schema Dimensional Model</a:t>
            </a:r>
          </a:p>
          <a:p>
            <a:pPr lvl="1"/>
            <a:r>
              <a:t>Fact Tables: fact_nav, fact_transactions, fact_performance, fact_aum, fact_portfolio. Captures raw, temporal, and quantifiable metrics.</a:t>
            </a:r>
          </a:p>
          <a:p>
            <a:pPr lvl="1"/>
            <a:r>
              <a:t>Dimension Tables: dim_fund (scheme metadata, risk profiles), dim_date (temporal mapping). Enables rapid cross-table SQL joins.</a:t>
            </a:r>
          </a:p>
          <a:p>
            <a:pPr>
              <a:defRPr b="1"/>
            </a:pPr>
            <a:r>
              <a:t>Bonus B1: Automation</a:t>
            </a:r>
          </a:p>
          <a:p>
            <a:pPr lvl="1"/>
            <a:r>
              <a:t>Designed a bash chron-job to automatically execute the live NAV fetching pipeline every weekday at exactly 8:00 PM.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3. Quantitative Financial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Precision Performance Metrics</a:t>
            </a:r>
          </a:p>
          <a:p>
            <a:pPr lvl="1"/>
            <a:r>
              <a:t>Calculated annualized Compounded Annual Growth Rates (CAGR) utilizing strict 252 trading-day logic to prevent calendar-day dilution.</a:t>
            </a:r>
          </a:p>
          <a:p>
            <a:pPr>
              <a:defRPr b="1"/>
            </a:pPr>
            <a:r>
              <a:t>Risk-Adjusted Outperformance &amp; Benchmark Tracking</a:t>
            </a:r>
          </a:p>
          <a:p>
            <a:pPr lvl="1"/>
            <a:r>
              <a:t>Computed annualized Sharpe &amp; Sortino Ratios using a 6.5% risk-free rate proxy to isolate managerial outperformance against volatility.</a:t>
            </a:r>
          </a:p>
          <a:p>
            <a:pPr lvl="1"/>
            <a:r>
              <a:t>Executed Ordinary Least Squares (OLS) regression against NIFTY 100 to map systemic Beta risk and alpha-generation.</a:t>
            </a:r>
          </a:p>
          <a:p>
            <a:pPr>
              <a:defRPr b="1"/>
            </a:pPr>
            <a:r>
              <a:t>The Composite Scorecard</a:t>
            </a:r>
          </a:p>
          <a:p>
            <a:pPr lvl="1"/>
            <a:r>
              <a:t>Synthesized metrics into a 0-100 percentile rank: 3Yr CAGR (30%), Sharpe (25%), Alpha (20%), Expense Ratio (15%), Maximum Drawdown (10%).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4. Advanced Analytics &amp; Behavioral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Tail-Risk &amp; Sector Concentration</a:t>
            </a:r>
          </a:p>
          <a:p>
            <a:pPr lvl="1"/>
            <a:r>
              <a:t>Calculated 95% Value-at-Risk (VaR) and Conditional VaR to quantify expected shortfalls during black-swan events.</a:t>
            </a:r>
          </a:p>
          <a:p>
            <a:pPr lvl="1"/>
            <a:r>
              <a:t>Computed the Herfindahl-Hirschman Index (HHI) for portfolios, mathematically exposing the high concentration risk inherent in Sectoral funds.</a:t>
            </a:r>
          </a:p>
          <a:p>
            <a:pPr>
              <a:defRPr b="1"/>
            </a:pPr>
            <a:r>
              <a:t>Investor Cohort &amp; Churn Analytics</a:t>
            </a:r>
          </a:p>
          <a:p>
            <a:pPr lvl="1"/>
            <a:r>
              <a:t>Grouped investors by their initial onboarding year to prove that early cohorts maintain significantly higher SIP capital allocations.</a:t>
            </a:r>
          </a:p>
          <a:p>
            <a:pPr lvl="1"/>
            <a:r>
              <a:t>Programmatically flagged 'At-Risk' users who exhibited SIP payment gaps exceeding 35 days, providing actionable retention leads.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5. Bonus Deliverables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We executed 100% of the Capstone Bonus Challenges:</a:t>
            </a:r>
          </a:p>
          <a:p>
            <a:pPr lvl="1"/>
            <a:r>
              <a:t>[B1] Cron automation script deployed for live, hands-free NAV syncing.</a:t>
            </a:r>
          </a:p>
          <a:p>
            <a:pPr lvl="1"/>
            <a:r>
              <a:t>[B2] An interactive 4-page Streamlit Dashboard was deployed, featuring dual-axis charts, risk-return scatter plots, and dynamic filtering.</a:t>
            </a:r>
          </a:p>
          <a:p>
            <a:pPr lvl="1"/>
            <a:r>
              <a:t>[B3] Stochastic Monte Carlo Simulations engineered to project 5-year NAV growth paths, generating 5th, 50th, and 95th percentile expected asset bounds.</a:t>
            </a:r>
          </a:p>
          <a:p>
            <a:pPr lvl="1"/>
            <a:r>
              <a:t>[B4] Markowitz Efficient Frontier models deployed to compute covariance matrices and discover the mathematical Maximum Sharpe Ratio portfolio allocation.</a:t>
            </a:r>
          </a:p>
          <a:p>
            <a:pPr lvl="1"/>
            <a:r>
              <a:t>[B5] Automated SMTP email scripts engineered to dynamically construct and transmit HTML weekly performance summaries to executive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